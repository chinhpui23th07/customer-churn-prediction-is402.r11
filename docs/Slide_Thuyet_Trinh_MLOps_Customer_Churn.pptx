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 điểm quan trọng đầu tiên của nhóm là đã xử lý triệt để 62,995 ID trùng lặp giữa tập train và test của dataset gốc, tạo ra 442,211 khách hàng độc lập tuyệt đối.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đã khảo sát 6 công trình khoa học từ năm 2024 đến 2026 để làm cơ sở học thuật vững chắc cho việc thiết kế kiến trúc và giải thuật.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hệ thống bám sát đề tài 11 với 5 tầng rõ rệt, kết hợp chặt chẽ giữa Feature Store, Model Registry và Serving.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Feast giải quyết triệt để lỗi Training-Serving Skew thường gặp bằng cách sử dụng chung định nghĩa feature view cho cả offline và online.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Thực nghiệm I/O đo đạc trực tiếp trên hệ thống cho thấy Parquet tiết kiệm 73% dung lượng lưu trữ và đọc nhanh hơn 14.4 lần so với CSV.</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đo đạc độ trễ mạng thực tế chứng minh Singapore là vị trí tối ưu nhất để đặt API gateway và container phục vụ người dùng Việt Nam.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thực hiện đánh giá bằng 5-Fold Cross Validation trên tập train để chống overfitting trước khi kiểm thử trên tập test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Đồ thị ROC curves minh chứng khả năng phân loại vượt trội của các mô hình Gradient Boosting và Random Forest so với Logistic Regression.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đóng góp trung thực mang tính học thuật cao của nhóm: phát hiện tập dữ liệu có quy luật gần như định thức ở thuộc tính Contract Length, giải thích rõ nguyên nhân ROC-AUC cao.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tích hợp SHAP TreeExplainer thực tế để bóc tách nguyên nhân rời bỏ cho từng khách hàng, phục vụ quyết định kinh doanh cá nhân hóa.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 hỗ trợ cả hai phương thức: gửi JSON trực tiếp hoặc truy xuất tự động từ Feast Online Store theo Customer ID.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giám sát trôi dạt dữ liệu kết hợp kiểm định KS-test và PSI, có sẵn webhook để kích hoạt Continuous Training tự động.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CI/CD hoàn chỉnh kiểm tra toàn bộ chất lượng code, tính toàn vẹn DVC, unit tests và kiểm thử docker build.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Đồ án đã sẵn sàng cho buổi bảo vệ với kịch bản demo thực tế trên hệ thống đang chạy.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1097280" y="1463040"/>
            <a:ext cx="10058400" cy="3474720"/>
          </a:xfrm>
          <a:prstGeom prst="rect">
            <a:avLst/>
          </a:prstGeom>
          <a:noFill/>
        </p:spPr>
        <p:txBody>
          <a:bodyPr wrap="none">
            <a:spAutoFit/>
          </a:bodyPr>
          <a:lstStyle/>
          <a:p>
            <a:pPr>
              <a:defRPr sz="1300" b="1">
                <a:solidFill>
                  <a:srgbClr val="F59E0B"/>
                </a:solidFill>
                <a:latin typeface="Arial"/>
              </a:defRPr>
            </a:pPr>
            <a:r>
              <a:t>ĐẠI HỌC QUỐC GIA TP.HCM - TRƯỜNG ĐẠI HỌC CÔNG NGHỆ THÔNG TIN</a:t>
            </a:r>
          </a:p>
          <a:p>
            <a:pPr>
              <a:defRPr sz="2500" b="1">
                <a:solidFill>
                  <a:srgbClr val="F8FAFC"/>
                </a:solidFill>
                <a:latin typeface="Arial"/>
              </a:defRPr>
            </a:pPr>
            <a:r>
              <a:t>BÁO CÁO BÀI TẬP LỚN ĐIỆN TOÁN ĐÁM MÂY (ĐỀ TÀI 11)</a:t>
            </a:r>
            <a:br/>
            <a:r>
              <a:t>MLOPS: HỆ THỐNG DỰ ĐOÁN KHÁCH HÀNG RỜI BỎ DỊCH VỤ</a:t>
            </a:r>
            <a:br/>
            <a:r>
              <a:t>(CUSTOMER CHURN PREDICTION)</a:t>
            </a:r>
          </a:p>
          <a:p>
            <a:br/>
            <a:pPr>
              <a:defRPr sz="1400">
                <a:solidFill>
                  <a:srgbClr val="94A3B8"/>
                </a:solidFill>
                <a:latin typeface="Arial"/>
              </a:defRPr>
            </a:pPr>
            <a:r>
              <a:t>Kiến trúc MLOps Level 2: DVC + Feast Feature Store + MLflow Registry + FastAPI + Drift Detector</a:t>
            </a:r>
          </a:p>
        </p:txBody>
      </p:sp>
      <p:sp>
        <p:nvSpPr>
          <p:cNvPr id="3" name="TextBox 2"/>
          <p:cNvSpPr txBox="1"/>
          <p:nvPr/>
        </p:nvSpPr>
        <p:spPr>
          <a:xfrm>
            <a:off x="1097280" y="5029200"/>
            <a:ext cx="10058400" cy="1371600"/>
          </a:xfrm>
          <a:prstGeom prst="rect">
            <a:avLst/>
          </a:prstGeom>
          <a:noFill/>
        </p:spPr>
        <p:txBody>
          <a:bodyPr wrap="none">
            <a:spAutoFit/>
          </a:bodyPr>
          <a:lstStyle/>
          <a:p>
            <a:pPr>
              <a:defRPr sz="1300">
                <a:solidFill>
                  <a:srgbClr val="94A3B8"/>
                </a:solidFill>
                <a:latin typeface="Arial"/>
              </a:defRPr>
            </a:pPr>
            <a:r>
              <a:t>Giảng viên hướng dẫn: TS. Nguyễn Trọng Hải  |  Sinh viên thực hiện: Nguyễn Trọng Khởi (MSSV: 22520695)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a:spAutoFit/>
          </a:bodyPr>
          <a:lstStyle/>
          <a:p>
            <a:pPr>
              <a:defRPr sz="1000" b="1">
                <a:solidFill>
                  <a:srgbClr val="F59E0B"/>
                </a:solidFill>
                <a:latin typeface="Arial"/>
              </a:defRPr>
            </a:pPr>
            <a:r>
              <a:t>1.0 GIỚI THIỆU BÀI TOÁN &amp; DỮ LIỆU THỰC TẾ</a:t>
            </a:r>
          </a:p>
          <a:p>
            <a:pPr>
              <a:defRPr sz="2100" b="1">
                <a:solidFill>
                  <a:srgbClr val="F8FAFC"/>
                </a:solidFill>
                <a:latin typeface="Arial"/>
              </a:defRPr>
            </a:pPr>
            <a:r>
              <a:t>Bối Cảnh Bài Toán &amp; Xử Lý Khử Trùng Lặp Dữ Liệu</a:t>
            </a:r>
          </a:p>
        </p:txBody>
      </p:sp>
      <p:sp>
        <p:nvSpPr>
          <p:cNvPr id="3" name="Rounded Rectangle 2"/>
          <p:cNvSpPr/>
          <p:nvPr/>
        </p:nvSpPr>
        <p:spPr>
          <a:xfrm>
            <a:off x="731520" y="1554480"/>
            <a:ext cx="10698480" cy="4754880"/>
          </a:xfrm>
          <a:prstGeom prst="roundRect">
            <a:avLst/>
          </a:prstGeom>
          <a:solidFill>
            <a:srgbClr val="112240"/>
          </a:solidFill>
          <a:ln>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10149840" cy="4297680"/>
          </a:xfrm>
          <a:prstGeom prst="rect">
            <a:avLst/>
          </a:prstGeom>
          <a:noFill/>
        </p:spPr>
        <p:txBody>
          <a:bodyPr wrap="square">
            <a:spAutoFit/>
          </a:bodyPr>
          <a:lstStyle/>
          <a:p>
            <a:pPr>
              <a:spcAft>
                <a:spcPts val="1000"/>
              </a:spcAft>
              <a:defRPr sz="1500">
                <a:solidFill>
                  <a:srgbClr val="F8FAFC"/>
                </a:solidFill>
                <a:latin typeface="Arial"/>
              </a:defRPr>
            </a:pPr>
            <a:r>
              <a:t>•  Chi phí thu hút khách hàng mới (CAC) đắt gấp 5 - 7 lần chi phí giữ chân khách hàng hiện hữu.</a:t>
            </a:r>
          </a:p>
          <a:p>
            <a:pPr>
              <a:spcAft>
                <a:spcPts val="1000"/>
              </a:spcAft>
              <a:defRPr sz="1500">
                <a:solidFill>
                  <a:srgbClr val="F8FAFC"/>
                </a:solidFill>
                <a:latin typeface="Arial"/>
              </a:defRPr>
            </a:pPr>
            <a:r>
              <a:t>•  Tập dữ liệu gốc 505,207 bản ghi chứa 62,995 CustomerID trùng lặp giữa tập train và test.</a:t>
            </a:r>
          </a:p>
          <a:p>
            <a:pPr>
              <a:spcAft>
                <a:spcPts val="1000"/>
              </a:spcAft>
              <a:defRPr sz="1500">
                <a:solidFill>
                  <a:srgbClr val="F8FAFC"/>
                </a:solidFill>
                <a:latin typeface="Arial"/>
              </a:defRPr>
            </a:pPr>
            <a:r>
              <a:t>•  Khử trùng lặp triệt để: Thu được chính xác 442,211 khách hàng duy nhất (Customer Isolation).</a:t>
            </a:r>
          </a:p>
          <a:p>
            <a:pPr>
              <a:spcAft>
                <a:spcPts val="1000"/>
              </a:spcAft>
              <a:defRPr sz="1500">
                <a:solidFill>
                  <a:srgbClr val="F8FAFC"/>
                </a:solidFill>
                <a:latin typeface="Arial"/>
              </a:defRPr>
            </a:pPr>
            <a:r>
              <a:t>•  Phân tầng nghiêm ngặt: 70% Train (309,547), 15% Validation (66,332), 15% Holdout Test (66,332).</a:t>
            </a:r>
          </a:p>
          <a:p>
            <a:pPr>
              <a:spcAft>
                <a:spcPts val="1000"/>
              </a:spcAft>
              <a:defRPr sz="1500">
                <a:solidFill>
                  <a:srgbClr val="F8FAFC"/>
                </a:solidFill>
                <a:latin typeface="Arial"/>
              </a:defRPr>
            </a:pPr>
            <a:r>
              <a:t>•  13 đặc trưng: 10 biến hành vi gốc + 3 biến tương tác (support_per_tenure, spend_per_tenure, delay_ratio).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a:spAutoFit/>
          </a:bodyPr>
          <a:lstStyle/>
          <a:p>
            <a:pPr>
              <a:defRPr sz="1000" b="1">
                <a:solidFill>
                  <a:srgbClr val="F59E0B"/>
                </a:solidFill>
                <a:latin typeface="Arial"/>
              </a:defRPr>
            </a:pPr>
            <a:r>
              <a:t>NGHIÊN CỨU HỌC THUẬT HIỆN ĐẠI (2024 - 2026)</a:t>
            </a:r>
          </a:p>
          <a:p>
            <a:pPr>
              <a:defRPr sz="2100" b="1">
                <a:solidFill>
                  <a:srgbClr val="F8FAFC"/>
                </a:solidFill>
                <a:latin typeface="Arial"/>
              </a:defRPr>
            </a:pPr>
            <a:r>
              <a:t>Khảo Sát 6 Công Trình Khoa Học Mới Nhất (arXiv &amp; IEEE)</a:t>
            </a:r>
          </a:p>
        </p:txBody>
      </p:sp>
      <p:sp>
        <p:nvSpPr>
          <p:cNvPr id="3" name="Rounded Rectangle 2"/>
          <p:cNvSpPr/>
          <p:nvPr/>
        </p:nvSpPr>
        <p:spPr>
          <a:xfrm>
            <a:off x="731520" y="1554480"/>
            <a:ext cx="10698480" cy="4754880"/>
          </a:xfrm>
          <a:prstGeom prst="roundRect">
            <a:avLst/>
          </a:prstGeom>
          <a:solidFill>
            <a:srgbClr val="112240"/>
          </a:solidFill>
          <a:ln>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10149840" cy="4297680"/>
          </a:xfrm>
          <a:prstGeom prst="rect">
            <a:avLst/>
          </a:prstGeom>
          <a:noFill/>
        </p:spPr>
        <p:txBody>
          <a:bodyPr wrap="square">
            <a:spAutoFit/>
          </a:bodyPr>
          <a:lstStyle/>
          <a:p>
            <a:pPr>
              <a:spcAft>
                <a:spcPts val="1000"/>
              </a:spcAft>
              <a:defRPr sz="1500">
                <a:solidFill>
                  <a:srgbClr val="F8FAFC"/>
                </a:solidFill>
                <a:latin typeface="Arial"/>
              </a:defRPr>
            </a:pPr>
            <a:r>
              <a:t>•  Hasan et al. (2024 - arXiv:2408.16284): Mô hình Ensemble đa tầng tối ưu hóa độ chính xác bài toán viễn thông.</a:t>
            </a:r>
          </a:p>
          <a:p>
            <a:pPr>
              <a:spcAft>
                <a:spcPts val="1000"/>
              </a:spcAft>
              <a:defRPr sz="1500">
                <a:solidFill>
                  <a:srgbClr val="F8FAFC"/>
                </a:solidFill>
                <a:latin typeface="Arial"/>
              </a:defRPr>
            </a:pPr>
            <a:r>
              <a:t>•  Bodria et al. (2024 - arXiv:2412.11308): Tích hợp XAI vào phát hiện Concept Drift trước khi mô hình suy giảm.</a:t>
            </a:r>
          </a:p>
          <a:p>
            <a:pPr>
              <a:spcAft>
                <a:spcPts val="1000"/>
              </a:spcAft>
              <a:defRPr sz="1500">
                <a:solidFill>
                  <a:srgbClr val="F8FAFC"/>
                </a:solidFill>
                <a:latin typeface="Arial"/>
              </a:defRPr>
            </a:pPr>
            <a:r>
              <a:t>•  Chen et al. (2025 - arXiv:2507.08860): Thước đo e-Profits gắn chặt với bài toán tối ưu hóa lợi nhuận giữ chân.</a:t>
            </a:r>
          </a:p>
          <a:p>
            <a:pPr>
              <a:spcAft>
                <a:spcPts val="1000"/>
              </a:spcAft>
              <a:defRPr sz="1500">
                <a:solidFill>
                  <a:srgbClr val="F8FAFC"/>
                </a:solidFill>
                <a:latin typeface="Arial"/>
              </a:defRPr>
            </a:pPr>
            <a:r>
              <a:t>•  Verma et al. (2025) &amp; Weber et al. (2026): Tích hợp SHAP giải thích quyết định cá nhân hóa và MLOps retraining.</a:t>
            </a:r>
          </a:p>
          <a:p>
            <a:pPr>
              <a:spcAft>
                <a:spcPts val="1000"/>
              </a:spcAft>
              <a:defRPr sz="1500">
                <a:solidFill>
                  <a:srgbClr val="F8FAFC"/>
                </a:solidFill>
                <a:latin typeface="Arial"/>
              </a:defRPr>
            </a:pPr>
            <a:r>
              <a:t>•  Toàn bộ 6 tệp PDF bài báo gốc đã được tải về lưu trữ tại docs/research/papers/.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a:spAutoFit/>
          </a:bodyPr>
          <a:lstStyle/>
          <a:p>
            <a:pPr>
              <a:defRPr sz="1000" b="1">
                <a:solidFill>
                  <a:srgbClr val="F59E0B"/>
                </a:solidFill>
                <a:latin typeface="Arial"/>
              </a:defRPr>
            </a:pPr>
            <a:r>
              <a:t>2.0 KIẾN TRÚC MLOPS TỔNG THỂ</a:t>
            </a:r>
          </a:p>
          <a:p>
            <a:pPr>
              <a:defRPr sz="2100" b="1">
                <a:solidFill>
                  <a:srgbClr val="F8FAFC"/>
                </a:solidFill>
                <a:latin typeface="Arial"/>
              </a:defRPr>
            </a:pPr>
            <a:r>
              <a:t>Sơ Đồ 5 Tầng MLOps Phục Vụ &amp; Vận Hành Doanh Nghiệp</a:t>
            </a:r>
          </a:p>
        </p:txBody>
      </p:sp>
      <p:sp>
        <p:nvSpPr>
          <p:cNvPr id="3" name="Rounded Rectangle 2"/>
          <p:cNvSpPr/>
          <p:nvPr/>
        </p:nvSpPr>
        <p:spPr>
          <a:xfrm>
            <a:off x="731520" y="1554480"/>
            <a:ext cx="5486400" cy="4754880"/>
          </a:xfrm>
          <a:prstGeom prst="roundRect">
            <a:avLst/>
          </a:prstGeom>
          <a:solidFill>
            <a:srgbClr val="112240"/>
          </a:solidFill>
          <a:ln>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4937760" cy="4297680"/>
          </a:xfrm>
          <a:prstGeom prst="rect">
            <a:avLst/>
          </a:prstGeom>
          <a:noFill/>
        </p:spPr>
        <p:txBody>
          <a:bodyPr wrap="square">
            <a:spAutoFit/>
          </a:bodyPr>
          <a:lstStyle/>
          <a:p>
            <a:pPr>
              <a:spcAft>
                <a:spcPts val="1000"/>
              </a:spcAft>
              <a:defRPr sz="1400">
                <a:solidFill>
                  <a:srgbClr val="F8FAFC"/>
                </a:solidFill>
                <a:latin typeface="Arial"/>
              </a:defRPr>
            </a:pPr>
            <a:r>
              <a:t>•  Tầng 1 - Data Layer: DVC quản lý phiên bản dữ liệu song hành Git + lưu trữ Parquet Snappy.</a:t>
            </a:r>
          </a:p>
          <a:p>
            <a:pPr>
              <a:spcAft>
                <a:spcPts val="1000"/>
              </a:spcAft>
              <a:defRPr sz="1400">
                <a:solidFill>
                  <a:srgbClr val="F8FAFC"/>
                </a:solidFill>
                <a:latin typeface="Arial"/>
              </a:defRPr>
            </a:pPr>
            <a:r>
              <a:t>•  Tầng 2 - Feature Store: Feast Dual-Store (Offline Parquet &amp; Online SQLite) triệt tiêu Skew.</a:t>
            </a:r>
          </a:p>
          <a:p>
            <a:pPr>
              <a:spcAft>
                <a:spcPts val="1000"/>
              </a:spcAft>
              <a:defRPr sz="1400">
                <a:solidFill>
                  <a:srgbClr val="F8FAFC"/>
                </a:solidFill>
                <a:latin typeface="Arial"/>
              </a:defRPr>
            </a:pPr>
            <a:r>
              <a:t>•  Tầng 3 - Training: 5-Fold Stratified CV, theo dõi thí nghiệm &amp; Model Registry với MLflow SQLite.</a:t>
            </a:r>
          </a:p>
          <a:p>
            <a:pPr>
              <a:spcAft>
                <a:spcPts val="1000"/>
              </a:spcAft>
              <a:defRPr sz="1400">
                <a:solidFill>
                  <a:srgbClr val="F8FAFC"/>
                </a:solidFill>
                <a:latin typeface="Arial"/>
              </a:defRPr>
            </a:pPr>
            <a:r>
              <a:t>•  Tầng 4 - Serving Layer: FastAPI REST API thời gian thực, SHAP TreeExplainer, OpenAPI /docs.</a:t>
            </a:r>
          </a:p>
          <a:p>
            <a:pPr>
              <a:spcAft>
                <a:spcPts val="1000"/>
              </a:spcAft>
              <a:defRPr sz="1400">
                <a:solidFill>
                  <a:srgbClr val="F8FAFC"/>
                </a:solidFill>
                <a:latin typeface="Arial"/>
              </a:defRPr>
            </a:pPr>
            <a:r>
              <a:t>•  Tầng 5 - Monitoring: Giám sát Data Drift (KS-test / PSI) và webhook kích hoạt Continuous Training.</a:t>
            </a:r>
          </a:p>
        </p:txBody>
      </p:sp>
      <p:pic>
        <p:nvPicPr>
          <p:cNvPr id="5" name="Picture 4" descr="bt11_tong_quan_kien_truc.png"/>
          <p:cNvPicPr>
            <a:picLocks noChangeAspect="1"/>
          </p:cNvPicPr>
          <p:nvPr/>
        </p:nvPicPr>
        <p:blipFill>
          <a:blip r:embed="rId2"/>
          <a:stretch>
            <a:fillRect/>
          </a:stretch>
        </p:blipFill>
        <p:spPr>
          <a:xfrm>
            <a:off x="6492240" y="1554480"/>
            <a:ext cx="4937760" cy="29889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a:spAutoFit/>
          </a:bodyPr>
          <a:lstStyle/>
          <a:p>
            <a:pPr>
              <a:defRPr sz="1000" b="1">
                <a:solidFill>
                  <a:srgbClr val="F59E0B"/>
                </a:solidFill>
                <a:latin typeface="Arial"/>
              </a:defRPr>
            </a:pPr>
            <a:r>
              <a:t>3.0 FEAST FEATURE STORE</a:t>
            </a:r>
          </a:p>
          <a:p>
            <a:pPr>
              <a:defRPr sz="2100" b="1">
                <a:solidFill>
                  <a:srgbClr val="F8FAFC"/>
                </a:solidFill>
                <a:latin typeface="Arial"/>
              </a:defRPr>
            </a:pPr>
            <a:r>
              <a:t>Kho Đặc Trưng Kép (Dual-Store) &amp; Triệt Tiêu Training-Serving Skew</a:t>
            </a:r>
          </a:p>
        </p:txBody>
      </p:sp>
      <p:sp>
        <p:nvSpPr>
          <p:cNvPr id="3" name="Rounded Rectangle 2"/>
          <p:cNvSpPr/>
          <p:nvPr/>
        </p:nvSpPr>
        <p:spPr>
          <a:xfrm>
            <a:off x="731520" y="1554480"/>
            <a:ext cx="5486400" cy="4754880"/>
          </a:xfrm>
          <a:prstGeom prst="roundRect">
            <a:avLst/>
          </a:prstGeom>
          <a:solidFill>
            <a:srgbClr val="112240"/>
          </a:solidFill>
          <a:ln>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4937760" cy="4297680"/>
          </a:xfrm>
          <a:prstGeom prst="rect">
            <a:avLst/>
          </a:prstGeom>
          <a:noFill/>
        </p:spPr>
        <p:txBody>
          <a:bodyPr wrap="square">
            <a:spAutoFit/>
          </a:bodyPr>
          <a:lstStyle/>
          <a:p>
            <a:pPr>
              <a:spcAft>
                <a:spcPts val="1000"/>
              </a:spcAft>
              <a:defRPr sz="1400">
                <a:solidFill>
                  <a:srgbClr val="F8FAFC"/>
                </a:solidFill>
                <a:latin typeface="Arial"/>
              </a:defRPr>
            </a:pPr>
            <a:r>
              <a:t>•  Offline Store: Parquet nén Snappy hỗ trợ truy vấn point-in-time chính xác cho huấn luyện.</a:t>
            </a:r>
          </a:p>
          <a:p>
            <a:pPr>
              <a:spcAft>
                <a:spcPts val="1000"/>
              </a:spcAft>
              <a:defRPr sz="1400">
                <a:solidFill>
                  <a:srgbClr val="F8FAFC"/>
                </a:solidFill>
                <a:latin typeface="Arial"/>
              </a:defRPr>
            </a:pPr>
            <a:r>
              <a:t>•  Online Store: SQLite nhúng phân tán, nạp sẵn 100,000 khách hàng phục vụ suy luận thời gian thực.</a:t>
            </a:r>
          </a:p>
          <a:p>
            <a:pPr>
              <a:spcAft>
                <a:spcPts val="1000"/>
              </a:spcAft>
              <a:defRPr sz="1400">
                <a:solidFill>
                  <a:srgbClr val="F8FAFC"/>
                </a:solidFill>
                <a:latin typeface="Arial"/>
              </a:defRPr>
            </a:pPr>
            <a:r>
              <a:t>•  Độ trễ truy xuất đặc trưng online: &lt; 2.0 ms qua endpoint /features/{customer_id}.</a:t>
            </a:r>
          </a:p>
          <a:p>
            <a:pPr>
              <a:spcAft>
                <a:spcPts val="1000"/>
              </a:spcAft>
              <a:defRPr sz="1400">
                <a:solidFill>
                  <a:srgbClr val="F8FAFC"/>
                </a:solidFill>
                <a:latin typeface="Arial"/>
              </a:defRPr>
            </a:pPr>
            <a:r>
              <a:t>•  Nối liền Serving: Endpoint /predict/customer/{id} tự động lấy đặc trưng từ Feast và dự đoán ngay lập tức.</a:t>
            </a:r>
          </a:p>
        </p:txBody>
      </p:sp>
      <p:pic>
        <p:nvPicPr>
          <p:cNvPr id="5" name="Picture 4" descr="bt11_feature_store_feast.png"/>
          <p:cNvPicPr>
            <a:picLocks noChangeAspect="1"/>
          </p:cNvPicPr>
          <p:nvPr/>
        </p:nvPicPr>
        <p:blipFill>
          <a:blip r:embed="rId2"/>
          <a:stretch>
            <a:fillRect/>
          </a:stretch>
        </p:blipFill>
        <p:spPr>
          <a:xfrm>
            <a:off x="6492240" y="1554480"/>
            <a:ext cx="4937760" cy="225662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a:spAutoFit/>
          </a:bodyPr>
          <a:lstStyle/>
          <a:p>
            <a:pPr>
              <a:defRPr sz="1000" b="1">
                <a:solidFill>
                  <a:srgbClr val="F59E0B"/>
                </a:solidFill>
                <a:latin typeface="Arial"/>
              </a:defRPr>
            </a:pPr>
            <a:r>
              <a:t>3.0 MÔ HÌNH DỮ LIỆU &amp; BENCHMARK I/O</a:t>
            </a:r>
          </a:p>
          <a:p>
            <a:pPr>
              <a:defRPr sz="2100" b="1">
                <a:solidFill>
                  <a:srgbClr val="F8FAFC"/>
                </a:solidFill>
                <a:latin typeface="Arial"/>
              </a:defRPr>
            </a:pPr>
            <a:r>
              <a:t>Thực Nghiệm Đo Kiểm Hiệu Năng Đọc Ghi Storage Thực Tế</a:t>
            </a:r>
          </a:p>
        </p:txBody>
      </p:sp>
      <p:sp>
        <p:nvSpPr>
          <p:cNvPr id="3" name="Rounded Rectangle 2"/>
          <p:cNvSpPr/>
          <p:nvPr/>
        </p:nvSpPr>
        <p:spPr>
          <a:xfrm>
            <a:off x="731520" y="1554480"/>
            <a:ext cx="10698480" cy="4754880"/>
          </a:xfrm>
          <a:prstGeom prst="roundRect">
            <a:avLst/>
          </a:prstGeom>
          <a:solidFill>
            <a:srgbClr val="112240"/>
          </a:solidFill>
          <a:ln>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10149840" cy="4297680"/>
          </a:xfrm>
          <a:prstGeom prst="rect">
            <a:avLst/>
          </a:prstGeom>
          <a:noFill/>
        </p:spPr>
        <p:txBody>
          <a:bodyPr wrap="square">
            <a:spAutoFit/>
          </a:bodyPr>
          <a:lstStyle/>
          <a:p>
            <a:pPr>
              <a:spcAft>
                <a:spcPts val="1000"/>
              </a:spcAft>
              <a:defRPr sz="1500">
                <a:solidFill>
                  <a:srgbClr val="F8FAFC"/>
                </a:solidFill>
                <a:latin typeface="Arial"/>
              </a:defRPr>
            </a:pPr>
            <a:r>
              <a:t>•  Đo đạc độc lập trên 100,000 bản ghi khách hàng (13 đặc trưng):</a:t>
            </a:r>
          </a:p>
          <a:p>
            <a:pPr>
              <a:spcAft>
                <a:spcPts val="1000"/>
              </a:spcAft>
              <a:defRPr sz="1500">
                <a:solidFill>
                  <a:srgbClr val="F8FAFC"/>
                </a:solidFill>
                <a:latin typeface="Arial"/>
              </a:defRPr>
            </a:pPr>
            <a:r>
              <a:t>•  CSV Plain Text: Dung lượng 8.94 MB | Ghi 16.78 MB/s | Đọc 28.68 MB/s.</a:t>
            </a:r>
          </a:p>
          <a:p>
            <a:pPr>
              <a:spcAft>
                <a:spcPts val="1000"/>
              </a:spcAft>
              <a:defRPr sz="1500">
                <a:solidFill>
                  <a:srgbClr val="F8FAFC"/>
                </a:solidFill>
                <a:latin typeface="Arial"/>
              </a:defRPr>
            </a:pPr>
            <a:r>
              <a:t>•  Apache Parquet (Snappy): Dung lượng 2.42 MB (Nén 3.7x) | Tốc độ đọc 111.77 MB/s (Nhanh hơn 14.41x!).</a:t>
            </a:r>
          </a:p>
          <a:p>
            <a:pPr>
              <a:spcAft>
                <a:spcPts val="1000"/>
              </a:spcAft>
              <a:defRPr sz="1500">
                <a:solidFill>
                  <a:srgbClr val="F8FAFC"/>
                </a:solidFill>
                <a:latin typeface="Arial"/>
              </a:defRPr>
            </a:pPr>
            <a:r>
              <a:t>•  SQLite3 Relational DB: Dung lượng 5.58 MB | Ghi 22.59 MB/s | Đọc 15.37 MB/s.</a:t>
            </a:r>
          </a:p>
          <a:p>
            <a:pPr>
              <a:spcAft>
                <a:spcPts val="1000"/>
              </a:spcAft>
              <a:defRPr sz="1500">
                <a:solidFill>
                  <a:srgbClr val="F8FAFC"/>
                </a:solidFill>
                <a:latin typeface="Arial"/>
              </a:defRPr>
            </a:pPr>
            <a:r>
              <a:t>•  Kết luận: Parquet Snappy tối ưu vượt trội cho lưu trữ đám mây (S3/GCS/Blob) và Feast Offline Store.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a:spAutoFit/>
          </a:bodyPr>
          <a:lstStyle/>
          <a:p>
            <a:pPr>
              <a:defRPr sz="1000" b="1">
                <a:solidFill>
                  <a:srgbClr val="F59E0B"/>
                </a:solidFill>
                <a:latin typeface="Arial"/>
              </a:defRPr>
            </a:pPr>
            <a:r>
              <a:t>3.0 MÔ HÌNH DỮ LIỆU &amp; ĐA VÙNG</a:t>
            </a:r>
          </a:p>
          <a:p>
            <a:pPr>
              <a:defRPr sz="2100" b="1">
                <a:solidFill>
                  <a:srgbClr val="F8FAFC"/>
                </a:solidFill>
                <a:latin typeface="Arial"/>
              </a:defRPr>
            </a:pPr>
            <a:r>
              <a:t>Đo Đạc TCP Latency Thực Tế Khi Triển Khai Đám Mây Đa Vùng</a:t>
            </a:r>
          </a:p>
        </p:txBody>
      </p:sp>
      <p:sp>
        <p:nvSpPr>
          <p:cNvPr id="3" name="Rounded Rectangle 2"/>
          <p:cNvSpPr/>
          <p:nvPr/>
        </p:nvSpPr>
        <p:spPr>
          <a:xfrm>
            <a:off x="731520" y="1554480"/>
            <a:ext cx="10698480" cy="4754880"/>
          </a:xfrm>
          <a:prstGeom prst="roundRect">
            <a:avLst/>
          </a:prstGeom>
          <a:solidFill>
            <a:srgbClr val="112240"/>
          </a:solidFill>
          <a:ln>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10149840" cy="4297680"/>
          </a:xfrm>
          <a:prstGeom prst="rect">
            <a:avLst/>
          </a:prstGeom>
          <a:noFill/>
        </p:spPr>
        <p:txBody>
          <a:bodyPr wrap="square">
            <a:spAutoFit/>
          </a:bodyPr>
          <a:lstStyle/>
          <a:p>
            <a:pPr>
              <a:spcAft>
                <a:spcPts val="1000"/>
              </a:spcAft>
              <a:defRPr sz="1500">
                <a:solidFill>
                  <a:srgbClr val="F8FAFC"/>
                </a:solidFill>
                <a:latin typeface="Arial"/>
              </a:defRPr>
            </a:pPr>
            <a:r>
              <a:t>•  Đo kiểm TCP Connect RTT thực tế từ Việt Nam đến các Datacenter đám mây toàn cầu:</a:t>
            </a:r>
          </a:p>
          <a:p>
            <a:pPr>
              <a:spcAft>
                <a:spcPts val="1000"/>
              </a:spcAft>
              <a:defRPr sz="1500">
                <a:solidFill>
                  <a:srgbClr val="F8FAFC"/>
                </a:solidFill>
                <a:latin typeface="Arial"/>
              </a:defRPr>
            </a:pPr>
            <a:r>
              <a:t>•  Đông Nam Á (Singapore / ap-southeast-1): 81.13 ms trung bình (Đạt chuẩn SLA tương tác &lt; 100ms).</a:t>
            </a:r>
          </a:p>
          <a:p>
            <a:pPr>
              <a:spcAft>
                <a:spcPts val="1000"/>
              </a:spcAft>
              <a:defRPr sz="1500">
                <a:solidFill>
                  <a:srgbClr val="F8FAFC"/>
                </a:solidFill>
                <a:latin typeface="Arial"/>
              </a:defRPr>
            </a:pPr>
            <a:r>
              <a:t>•  Đông Á (Hong Kong / ap-east-1): 44.77 ms min, kết nối ổn định cho người dùng Châu Á.</a:t>
            </a:r>
          </a:p>
          <a:p>
            <a:pPr>
              <a:spcAft>
                <a:spcPts val="1000"/>
              </a:spcAft>
              <a:defRPr sz="1500">
                <a:solidFill>
                  <a:srgbClr val="F8FAFC"/>
                </a:solidFill>
                <a:latin typeface="Arial"/>
              </a:defRPr>
            </a:pPr>
            <a:r>
              <a:t>•  Nhật Bản (Tokyo / ap-northeast-1): 168.28 ms | Frankfurt (eu-central-1): 262.10 ms.</a:t>
            </a:r>
          </a:p>
          <a:p>
            <a:pPr>
              <a:spcAft>
                <a:spcPts val="1000"/>
              </a:spcAft>
              <a:defRPr sz="1500">
                <a:solidFill>
                  <a:srgbClr val="F8FAFC"/>
                </a:solidFill>
                <a:latin typeface="Arial"/>
              </a:defRPr>
            </a:pPr>
            <a:r>
              <a:t>•  Bắc Mỹ (N. Virginia / us-east-1): 582.65 ms (Bắt buộc dùng CDN/Edge Proxy để tối ưu hóa trải nghiệm).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a:spAutoFit/>
          </a:bodyPr>
          <a:lstStyle/>
          <a:p>
            <a:pPr>
              <a:defRPr sz="1000" b="1">
                <a:solidFill>
                  <a:srgbClr val="F59E0B"/>
                </a:solidFill>
                <a:latin typeface="Arial"/>
              </a:defRPr>
            </a:pPr>
            <a:r>
              <a:t>4.0 HUẤN LUYỆN &amp; CROSS VALIDATION</a:t>
            </a:r>
          </a:p>
          <a:p>
            <a:pPr>
              <a:defRPr sz="2100" b="1">
                <a:solidFill>
                  <a:srgbClr val="F8FAFC"/>
                </a:solidFill>
                <a:latin typeface="Arial"/>
              </a:defRPr>
            </a:pPr>
            <a:r>
              <a:t>Đánh Giá 5-Fold Stratified Cross Validation &amp; Champion Model</a:t>
            </a:r>
          </a:p>
        </p:txBody>
      </p:sp>
      <p:sp>
        <p:nvSpPr>
          <p:cNvPr id="3" name="Rounded Rectangle 2"/>
          <p:cNvSpPr/>
          <p:nvPr/>
        </p:nvSpPr>
        <p:spPr>
          <a:xfrm>
            <a:off x="731520" y="1554480"/>
            <a:ext cx="5486400" cy="4754880"/>
          </a:xfrm>
          <a:prstGeom prst="roundRect">
            <a:avLst/>
          </a:prstGeom>
          <a:solidFill>
            <a:srgbClr val="112240"/>
          </a:solidFill>
          <a:ln>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4937760" cy="4297680"/>
          </a:xfrm>
          <a:prstGeom prst="rect">
            <a:avLst/>
          </a:prstGeom>
          <a:noFill/>
        </p:spPr>
        <p:txBody>
          <a:bodyPr wrap="square">
            <a:spAutoFit/>
          </a:bodyPr>
          <a:lstStyle/>
          <a:p>
            <a:pPr>
              <a:spcAft>
                <a:spcPts val="1000"/>
              </a:spcAft>
              <a:defRPr sz="1400">
                <a:solidFill>
                  <a:srgbClr val="F8FAFC"/>
                </a:solidFill>
                <a:latin typeface="Arial"/>
              </a:defRPr>
            </a:pPr>
            <a:r>
              <a:t>•  Mô hình Champion: XGBoost đạt điểm 5-Fold CV ROC-AUC: 0.9989.</a:t>
            </a:r>
          </a:p>
          <a:p>
            <a:pPr>
              <a:spcAft>
                <a:spcPts val="1000"/>
              </a:spcAft>
              <a:defRPr sz="1400">
                <a:solidFill>
                  <a:srgbClr val="F8FAFC"/>
                </a:solidFill>
                <a:latin typeface="Arial"/>
              </a:defRPr>
            </a:pPr>
            <a:r>
              <a:t>•  So sánh 4 thuật toán: Logistic Regression, Random Forest, XGBoost, LightGBM.</a:t>
            </a:r>
          </a:p>
          <a:p>
            <a:pPr>
              <a:spcAft>
                <a:spcPts val="1000"/>
              </a:spcAft>
              <a:defRPr sz="1400">
                <a:solidFill>
                  <a:srgbClr val="F8FAFC"/>
                </a:solidFill>
                <a:latin typeface="Arial"/>
              </a:defRPr>
            </a:pPr>
            <a:r>
              <a:t>•  Tự động đăng ký mô hình vào MLflow Model Registry với version quản trị (v1, v2).</a:t>
            </a:r>
          </a:p>
          <a:p>
            <a:pPr>
              <a:spcAft>
                <a:spcPts val="1000"/>
              </a:spcAft>
              <a:defRPr sz="1400">
                <a:solidFill>
                  <a:srgbClr val="F8FAFC"/>
                </a:solidFill>
                <a:latin typeface="Arial"/>
              </a:defRPr>
            </a:pPr>
            <a:r>
              <a:t>•  Thời gian huấn luyện nhanh (&lt; 1.5s) nhờ tối ưu hóa song song đa luồng CPU.</a:t>
            </a:r>
          </a:p>
        </p:txBody>
      </p:sp>
      <p:pic>
        <p:nvPicPr>
          <p:cNvPr id="5" name="Picture 4" descr="model_comparison_metrics.png"/>
          <p:cNvPicPr>
            <a:picLocks noChangeAspect="1"/>
          </p:cNvPicPr>
          <p:nvPr/>
        </p:nvPicPr>
        <p:blipFill>
          <a:blip r:embed="rId2"/>
          <a:stretch>
            <a:fillRect/>
          </a:stretch>
        </p:blipFill>
        <p:spPr>
          <a:xfrm>
            <a:off x="6492240" y="1554480"/>
            <a:ext cx="4937760" cy="24688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a:spAutoFit/>
          </a:bodyPr>
          <a:lstStyle/>
          <a:p>
            <a:pPr>
              <a:defRPr sz="1000" b="1">
                <a:solidFill>
                  <a:srgbClr val="F59E0B"/>
                </a:solidFill>
                <a:latin typeface="Arial"/>
              </a:defRPr>
            </a:pPr>
            <a:r>
              <a:t>4.0 ĐÁNH GIÁ ĐƯỜNG CONG ROC &amp; AUC</a:t>
            </a:r>
          </a:p>
          <a:p>
            <a:pPr>
              <a:defRPr sz="2100" b="1">
                <a:solidFill>
                  <a:srgbClr val="F8FAFC"/>
                </a:solidFill>
                <a:latin typeface="Arial"/>
              </a:defRPr>
            </a:pPr>
            <a:r>
              <a:t>Khả Năng Phân Tách Nhị Phân &amp; Ma Trận Nhầm Lẫn</a:t>
            </a:r>
          </a:p>
        </p:txBody>
      </p:sp>
      <p:sp>
        <p:nvSpPr>
          <p:cNvPr id="3" name="Rounded Rectangle 2"/>
          <p:cNvSpPr/>
          <p:nvPr/>
        </p:nvSpPr>
        <p:spPr>
          <a:xfrm>
            <a:off x="731520" y="1554480"/>
            <a:ext cx="5486400" cy="4754880"/>
          </a:xfrm>
          <a:prstGeom prst="roundRect">
            <a:avLst/>
          </a:prstGeom>
          <a:solidFill>
            <a:srgbClr val="112240"/>
          </a:solidFill>
          <a:ln>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4937760" cy="4297680"/>
          </a:xfrm>
          <a:prstGeom prst="rect">
            <a:avLst/>
          </a:prstGeom>
          <a:noFill/>
        </p:spPr>
        <p:txBody>
          <a:bodyPr wrap="square">
            <a:spAutoFit/>
          </a:bodyPr>
          <a:lstStyle/>
          <a:p>
            <a:pPr>
              <a:spcAft>
                <a:spcPts val="1000"/>
              </a:spcAft>
              <a:defRPr sz="1400">
                <a:solidFill>
                  <a:srgbClr val="F8FAFC"/>
                </a:solidFill>
                <a:latin typeface="Arial"/>
              </a:defRPr>
            </a:pPr>
            <a:r>
              <a:t>•  Đường cong ROC tiến sát góc trên bên trái, chứng minh độ nhạy cực cao.</a:t>
            </a:r>
          </a:p>
          <a:p>
            <a:pPr>
              <a:spcAft>
                <a:spcPts val="1000"/>
              </a:spcAft>
              <a:defRPr sz="1400">
                <a:solidFill>
                  <a:srgbClr val="F8FAFC"/>
                </a:solidFill>
                <a:latin typeface="Arial"/>
              </a:defRPr>
            </a:pPr>
            <a:r>
              <a:t>•  Test Accuracy đạt trên 99.8% cho các mô hình dạng cây, vượt trội so với Baseline (87.27%).</a:t>
            </a:r>
          </a:p>
          <a:p>
            <a:pPr>
              <a:spcAft>
                <a:spcPts val="1000"/>
              </a:spcAft>
              <a:defRPr sz="1400">
                <a:solidFill>
                  <a:srgbClr val="F8FAFC"/>
                </a:solidFill>
                <a:latin typeface="Arial"/>
              </a:defRPr>
            </a:pPr>
            <a:r>
              <a:t>•  Tối thiểu hóa False Negatives (khách hàng rời bỏ nhưng đoán nhầm là ở lại), bảo toàn doanh thu doanh nghiệp.</a:t>
            </a:r>
          </a:p>
        </p:txBody>
      </p:sp>
      <p:pic>
        <p:nvPicPr>
          <p:cNvPr id="5" name="Picture 4" descr="roc_curves.png"/>
          <p:cNvPicPr>
            <a:picLocks noChangeAspect="1"/>
          </p:cNvPicPr>
          <p:nvPr/>
        </p:nvPicPr>
        <p:blipFill>
          <a:blip r:embed="rId2"/>
          <a:stretch>
            <a:fillRect/>
          </a:stretch>
        </p:blipFill>
        <p:spPr>
          <a:xfrm>
            <a:off x="6492240" y="1554480"/>
            <a:ext cx="4937760" cy="423236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a:spAutoFit/>
          </a:bodyPr>
          <a:lstStyle/>
          <a:p>
            <a:pPr>
              <a:defRPr sz="1000" b="1">
                <a:solidFill>
                  <a:srgbClr val="F59E0B"/>
                </a:solidFill>
                <a:latin typeface="Arial"/>
              </a:defRPr>
            </a:pPr>
            <a:r>
              <a:t>4.0 PHÂN TÍCH GIỚI HẠN DỮ LIỆU (DATA BIAS)</a:t>
            </a:r>
          </a:p>
          <a:p>
            <a:pPr>
              <a:defRPr sz="2100" b="1">
                <a:solidFill>
                  <a:srgbClr val="F8FAFC"/>
                </a:solidFill>
                <a:latin typeface="Arial"/>
              </a:defRPr>
            </a:pPr>
            <a:r>
              <a:t>Phân Tích Khách Quan: Quy Luật Dữ Liệu Nhân Tạo (Synthetic Artifact)</a:t>
            </a:r>
          </a:p>
        </p:txBody>
      </p:sp>
      <p:sp>
        <p:nvSpPr>
          <p:cNvPr id="3" name="Rounded Rectangle 2"/>
          <p:cNvSpPr/>
          <p:nvPr/>
        </p:nvSpPr>
        <p:spPr>
          <a:xfrm>
            <a:off x="731520" y="1554480"/>
            <a:ext cx="5486400" cy="4754880"/>
          </a:xfrm>
          <a:prstGeom prst="roundRect">
            <a:avLst/>
          </a:prstGeom>
          <a:solidFill>
            <a:srgbClr val="112240"/>
          </a:solidFill>
          <a:ln>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4937760" cy="4297680"/>
          </a:xfrm>
          <a:prstGeom prst="rect">
            <a:avLst/>
          </a:prstGeom>
          <a:noFill/>
        </p:spPr>
        <p:txBody>
          <a:bodyPr wrap="square">
            <a:spAutoFit/>
          </a:bodyPr>
          <a:lstStyle/>
          <a:p>
            <a:pPr>
              <a:spcAft>
                <a:spcPts val="1000"/>
              </a:spcAft>
              <a:defRPr sz="1400">
                <a:solidFill>
                  <a:srgbClr val="F8FAFC"/>
                </a:solidFill>
                <a:latin typeface="Arial"/>
              </a:defRPr>
            </a:pPr>
            <a:r>
              <a:t>•  Phát hiện cốt lõi: 87,447 / 87,588 khách hàng hợp đồng theo tháng (Monthly) đều rời bỏ (99.84%!).</a:t>
            </a:r>
          </a:p>
          <a:p>
            <a:pPr>
              <a:spcAft>
                <a:spcPts val="1000"/>
              </a:spcAft>
              <a:defRPr sz="1400">
                <a:solidFill>
                  <a:srgbClr val="F8FAFC"/>
                </a:solidFill>
                <a:latin typeface="Arial"/>
              </a:defRPr>
            </a:pPr>
            <a:r>
              <a:t>•  Nguyên nhân ROC-AUC ~0.999: Phản ánh quy luật sinh dữ liệu nhân tạo của dataset Kaggle, không phải sự toàn năng ngoài đời thực.</a:t>
            </a:r>
          </a:p>
          <a:p>
            <a:pPr>
              <a:spcAft>
                <a:spcPts val="1000"/>
              </a:spcAft>
              <a:defRPr sz="1400">
                <a:solidFill>
                  <a:srgbClr val="F8FAFC"/>
                </a:solidFill>
                <a:latin typeface="Arial"/>
              </a:defRPr>
            </a:pPr>
            <a:r>
              <a:t>•  Đánh giá khoa học: Mô hình học máy đã học hoàn hảo quy luật nội tại này.</a:t>
            </a:r>
          </a:p>
          <a:p>
            <a:pPr>
              <a:spcAft>
                <a:spcPts val="1000"/>
              </a:spcAft>
              <a:defRPr sz="1400">
                <a:solidFill>
                  <a:srgbClr val="F8FAFC"/>
                </a:solidFill>
                <a:latin typeface="Arial"/>
              </a:defRPr>
            </a:pPr>
            <a:r>
              <a:t>•  Bài học thực tiễn: Khi triển khai production, cần kiểm toán phân phối dữ liệu thực tế và giám sát drift liên tục.</a:t>
            </a:r>
          </a:p>
        </p:txBody>
      </p:sp>
      <p:pic>
        <p:nvPicPr>
          <p:cNvPr id="5" name="Picture 4" descr="confusion_matrix_champion.png"/>
          <p:cNvPicPr>
            <a:picLocks noChangeAspect="1"/>
          </p:cNvPicPr>
          <p:nvPr/>
        </p:nvPicPr>
        <p:blipFill>
          <a:blip r:embed="rId2"/>
          <a:stretch>
            <a:fillRect/>
          </a:stretch>
        </p:blipFill>
        <p:spPr>
          <a:xfrm>
            <a:off x="6492240" y="1554480"/>
            <a:ext cx="4937760" cy="4114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a:spAutoFit/>
          </a:bodyPr>
          <a:lstStyle/>
          <a:p>
            <a:pPr>
              <a:defRPr sz="1000" b="1">
                <a:solidFill>
                  <a:srgbClr val="F59E0B"/>
                </a:solidFill>
                <a:latin typeface="Arial"/>
              </a:defRPr>
            </a:pPr>
            <a:r>
              <a:t>4.0 XAI &amp; GIẢI THÍCH MÔ HÌNH</a:t>
            </a:r>
          </a:p>
          <a:p>
            <a:pPr>
              <a:defRPr sz="2100" b="1">
                <a:solidFill>
                  <a:srgbClr val="F8FAFC"/>
                </a:solidFill>
                <a:latin typeface="Arial"/>
              </a:defRPr>
            </a:pPr>
            <a:r>
              <a:t>Trí Tuệ Nhân Tạo Có Thể Giải Thích (SHAP TreeExplainer)</a:t>
            </a:r>
          </a:p>
        </p:txBody>
      </p:sp>
      <p:sp>
        <p:nvSpPr>
          <p:cNvPr id="3" name="Rounded Rectangle 2"/>
          <p:cNvSpPr/>
          <p:nvPr/>
        </p:nvSpPr>
        <p:spPr>
          <a:xfrm>
            <a:off x="731520" y="1554480"/>
            <a:ext cx="5486400" cy="4754880"/>
          </a:xfrm>
          <a:prstGeom prst="roundRect">
            <a:avLst/>
          </a:prstGeom>
          <a:solidFill>
            <a:srgbClr val="112240"/>
          </a:solidFill>
          <a:ln>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4937760" cy="4297680"/>
          </a:xfrm>
          <a:prstGeom prst="rect">
            <a:avLst/>
          </a:prstGeom>
          <a:noFill/>
        </p:spPr>
        <p:txBody>
          <a:bodyPr wrap="square">
            <a:spAutoFit/>
          </a:bodyPr>
          <a:lstStyle/>
          <a:p>
            <a:pPr>
              <a:spcAft>
                <a:spcPts val="1000"/>
              </a:spcAft>
              <a:defRPr sz="1400">
                <a:solidFill>
                  <a:srgbClr val="F8FAFC"/>
                </a:solidFill>
                <a:latin typeface="Arial"/>
              </a:defRPr>
            </a:pPr>
            <a:r>
              <a:t>•  Tích hợp thư viện SHAP chính thức: Phân rã giá trị đóng góp của từng đặc trưng theo thời gian thực.</a:t>
            </a:r>
          </a:p>
          <a:p>
            <a:pPr>
              <a:spcAft>
                <a:spcPts val="1000"/>
              </a:spcAft>
              <a:defRPr sz="1400">
                <a:solidFill>
                  <a:srgbClr val="F8FAFC"/>
                </a:solidFill>
                <a:latin typeface="Arial"/>
              </a:defRPr>
            </a:pPr>
            <a:r>
              <a:t>•  Top đặc trưng thúc đẩy rời bỏ: Contract Length, Payment Delay, Support Calls, Tenure.</a:t>
            </a:r>
          </a:p>
          <a:p>
            <a:pPr>
              <a:spcAft>
                <a:spcPts val="1000"/>
              </a:spcAft>
              <a:defRPr sz="1400">
                <a:solidFill>
                  <a:srgbClr val="F8FAFC"/>
                </a:solidFill>
                <a:latin typeface="Arial"/>
              </a:defRPr>
            </a:pPr>
            <a:r>
              <a:t>•  Cung cấp giải thích trực quan cho nhà quản trị kinh doanh trên từng phiên dự đoán khách hàng.</a:t>
            </a:r>
          </a:p>
          <a:p>
            <a:pPr>
              <a:spcAft>
                <a:spcPts val="1000"/>
              </a:spcAft>
              <a:defRPr sz="1400">
                <a:solidFill>
                  <a:srgbClr val="F8FAFC"/>
                </a:solidFill>
                <a:latin typeface="Arial"/>
              </a:defRPr>
            </a:pPr>
            <a:r>
              <a:t>•  Đề xuất hành động can thiệp giữ chân theo chuẩn e-Profits (ưu đãi VIP, hỗ trợ kỹ thuật, giảm giá gia hạn).</a:t>
            </a:r>
          </a:p>
        </p:txBody>
      </p:sp>
      <p:pic>
        <p:nvPicPr>
          <p:cNvPr id="5" name="Picture 4" descr="feature_importance.png"/>
          <p:cNvPicPr>
            <a:picLocks noChangeAspect="1"/>
          </p:cNvPicPr>
          <p:nvPr/>
        </p:nvPicPr>
        <p:blipFill>
          <a:blip r:embed="rId2"/>
          <a:stretch>
            <a:fillRect/>
          </a:stretch>
        </p:blipFill>
        <p:spPr>
          <a:xfrm>
            <a:off x="6492240" y="1554480"/>
            <a:ext cx="4937760" cy="32918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a:spAutoFit/>
          </a:bodyPr>
          <a:lstStyle/>
          <a:p>
            <a:pPr>
              <a:defRPr sz="1000" b="1">
                <a:solidFill>
                  <a:srgbClr val="F59E0B"/>
                </a:solidFill>
                <a:latin typeface="Arial"/>
              </a:defRPr>
            </a:pPr>
            <a:r>
              <a:t>4.0 SERVING API &amp; BENTO GRID UI</a:t>
            </a:r>
          </a:p>
          <a:p>
            <a:pPr>
              <a:defRPr sz="2100" b="1">
                <a:solidFill>
                  <a:srgbClr val="F8FAFC"/>
                </a:solidFill>
                <a:latin typeface="Arial"/>
              </a:defRPr>
            </a:pPr>
            <a:r>
              <a:t>FastAPI Production Serving &amp; Giao Diện Web Bento Grid</a:t>
            </a:r>
          </a:p>
        </p:txBody>
      </p:sp>
      <p:sp>
        <p:nvSpPr>
          <p:cNvPr id="3" name="Rounded Rectangle 2"/>
          <p:cNvSpPr/>
          <p:nvPr/>
        </p:nvSpPr>
        <p:spPr>
          <a:xfrm>
            <a:off x="731520" y="1554480"/>
            <a:ext cx="5486400" cy="4754880"/>
          </a:xfrm>
          <a:prstGeom prst="roundRect">
            <a:avLst/>
          </a:prstGeom>
          <a:solidFill>
            <a:srgbClr val="112240"/>
          </a:solidFill>
          <a:ln>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4937760" cy="4297680"/>
          </a:xfrm>
          <a:prstGeom prst="rect">
            <a:avLst/>
          </a:prstGeom>
          <a:noFill/>
        </p:spPr>
        <p:txBody>
          <a:bodyPr wrap="square">
            <a:spAutoFit/>
          </a:bodyPr>
          <a:lstStyle/>
          <a:p>
            <a:pPr>
              <a:spcAft>
                <a:spcPts val="1000"/>
              </a:spcAft>
              <a:defRPr sz="1400">
                <a:solidFill>
                  <a:srgbClr val="F8FAFC"/>
                </a:solidFill>
                <a:latin typeface="Arial"/>
              </a:defRPr>
            </a:pPr>
            <a:r>
              <a:t>•  Endpoint /predict: Dự đoán cá nhân kèm SHAP attributions và khuyến nghị hành động.</a:t>
            </a:r>
          </a:p>
          <a:p>
            <a:pPr>
              <a:spcAft>
                <a:spcPts val="1000"/>
              </a:spcAft>
              <a:defRPr sz="1400">
                <a:solidFill>
                  <a:srgbClr val="F8FAFC"/>
                </a:solidFill>
                <a:latin typeface="Arial"/>
              </a:defRPr>
            </a:pPr>
            <a:r>
              <a:t>•  Endpoint /predict/customer/{id}: Tự động truy vấn Feast Feature Store theo Customer ID.</a:t>
            </a:r>
          </a:p>
          <a:p>
            <a:pPr>
              <a:spcAft>
                <a:spcPts val="1000"/>
              </a:spcAft>
              <a:defRPr sz="1400">
                <a:solidFill>
                  <a:srgbClr val="F8FAFC"/>
                </a:solidFill>
                <a:latin typeface="Arial"/>
              </a:defRPr>
            </a:pPr>
            <a:r>
              <a:t>•  Endpoint /upload_csv_predict: Tải tệp CSV dự đoán hàng loạt và tải về kết quả gắn nhãn.</a:t>
            </a:r>
          </a:p>
          <a:p>
            <a:pPr>
              <a:spcAft>
                <a:spcPts val="1000"/>
              </a:spcAft>
              <a:defRPr sz="1400">
                <a:solidFill>
                  <a:srgbClr val="F8FAFC"/>
                </a:solidFill>
                <a:latin typeface="Arial"/>
              </a:defRPr>
            </a:pPr>
            <a:r>
              <a:t>•  Giao diện Bento Grid Google Stitch: Bảng màu Oceanic Navy &amp; Amber tự nhiên, đo rủi ro thời gian thực.</a:t>
            </a:r>
          </a:p>
        </p:txBody>
      </p:sp>
      <p:pic>
        <p:nvPicPr>
          <p:cNvPr id="5" name="Picture 4" descr="bt11_serving_pipeline_01.png"/>
          <p:cNvPicPr>
            <a:picLocks noChangeAspect="1"/>
          </p:cNvPicPr>
          <p:nvPr/>
        </p:nvPicPr>
        <p:blipFill>
          <a:blip r:embed="rId2"/>
          <a:stretch>
            <a:fillRect/>
          </a:stretch>
        </p:blipFill>
        <p:spPr>
          <a:xfrm>
            <a:off x="6492240" y="1554480"/>
            <a:ext cx="4937760" cy="217022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a:spAutoFit/>
          </a:bodyPr>
          <a:lstStyle/>
          <a:p>
            <a:pPr>
              <a:defRPr sz="1000" b="1">
                <a:solidFill>
                  <a:srgbClr val="F59E0B"/>
                </a:solidFill>
                <a:latin typeface="Arial"/>
              </a:defRPr>
            </a:pPr>
            <a:r>
              <a:t>4.0 GIÁM SÁT DRIFT LIÊN TỤC</a:t>
            </a:r>
          </a:p>
          <a:p>
            <a:pPr>
              <a:defRPr sz="2100" b="1">
                <a:solidFill>
                  <a:srgbClr val="F8FAFC"/>
                </a:solidFill>
                <a:latin typeface="Arial"/>
              </a:defRPr>
            </a:pPr>
            <a:r>
              <a:t>Giám Sát Trôi Dạt Dữ Liệu Thực Tế (KS-Test &amp; PSI)</a:t>
            </a:r>
          </a:p>
        </p:txBody>
      </p:sp>
      <p:sp>
        <p:nvSpPr>
          <p:cNvPr id="3" name="Rounded Rectangle 2"/>
          <p:cNvSpPr/>
          <p:nvPr/>
        </p:nvSpPr>
        <p:spPr>
          <a:xfrm>
            <a:off x="731520" y="1554480"/>
            <a:ext cx="5486400" cy="4754880"/>
          </a:xfrm>
          <a:prstGeom prst="roundRect">
            <a:avLst/>
          </a:prstGeom>
          <a:solidFill>
            <a:srgbClr val="112240"/>
          </a:solidFill>
          <a:ln>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4937760" cy="4297680"/>
          </a:xfrm>
          <a:prstGeom prst="rect">
            <a:avLst/>
          </a:prstGeom>
          <a:noFill/>
        </p:spPr>
        <p:txBody>
          <a:bodyPr wrap="square">
            <a:spAutoFit/>
          </a:bodyPr>
          <a:lstStyle/>
          <a:p>
            <a:pPr>
              <a:spcAft>
                <a:spcPts val="1000"/>
              </a:spcAft>
              <a:defRPr sz="1400">
                <a:solidFill>
                  <a:srgbClr val="F8FAFC"/>
                </a:solidFill>
                <a:latin typeface="Arial"/>
              </a:defRPr>
            </a:pPr>
            <a:r>
              <a:t>•  Giám sát 13 đặc trưng đầu vào so sánh giữa phân phối cơ sở (Validation) và suy luận thực tế.</a:t>
            </a:r>
          </a:p>
          <a:p>
            <a:pPr>
              <a:spcAft>
                <a:spcPts val="1000"/>
              </a:spcAft>
              <a:defRPr sz="1400">
                <a:solidFill>
                  <a:srgbClr val="F8FAFC"/>
                </a:solidFill>
                <a:latin typeface="Arial"/>
              </a:defRPr>
            </a:pPr>
            <a:r>
              <a:t>•  Áp dụng kiểm định 2 mẫu Kolmogorov-Smirnov (KS-test) và Population Stability Index (PSI).</a:t>
            </a:r>
          </a:p>
          <a:p>
            <a:pPr>
              <a:spcAft>
                <a:spcPts val="1000"/>
              </a:spcAft>
              <a:defRPr sz="1400">
                <a:solidFill>
                  <a:srgbClr val="F8FAFC"/>
                </a:solidFill>
                <a:latin typeface="Arial"/>
              </a:defRPr>
            </a:pPr>
            <a:r>
              <a:t>•  Endpoint /drift/status cung cấp báo cáo JSON chi tiết từng thuộc tính.</a:t>
            </a:r>
          </a:p>
          <a:p>
            <a:pPr>
              <a:spcAft>
                <a:spcPts val="1000"/>
              </a:spcAft>
              <a:defRPr sz="1400">
                <a:solidFill>
                  <a:srgbClr val="F8FAFC"/>
                </a:solidFill>
                <a:latin typeface="Arial"/>
              </a:defRPr>
            </a:pPr>
            <a:r>
              <a:t>•  Endpoint /api/v1/trigger_retrain: Webhook tự động kích hoạt pipeline tái huấn luyện khi phát hiện trôi dạt.</a:t>
            </a:r>
          </a:p>
        </p:txBody>
      </p:sp>
      <p:pic>
        <p:nvPicPr>
          <p:cNvPr id="5" name="Picture 4" descr="bt11_monitor_drift.png"/>
          <p:cNvPicPr>
            <a:picLocks noChangeAspect="1"/>
          </p:cNvPicPr>
          <p:nvPr/>
        </p:nvPicPr>
        <p:blipFill>
          <a:blip r:embed="rId2"/>
          <a:stretch>
            <a:fillRect/>
          </a:stretch>
        </p:blipFill>
        <p:spPr>
          <a:xfrm>
            <a:off x="6492240" y="1554480"/>
            <a:ext cx="4937760" cy="202448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a:spAutoFit/>
          </a:bodyPr>
          <a:lstStyle/>
          <a:p>
            <a:pPr>
              <a:defRPr sz="1000" b="1">
                <a:solidFill>
                  <a:srgbClr val="F59E0B"/>
                </a:solidFill>
                <a:latin typeface="Arial"/>
              </a:defRPr>
            </a:pPr>
            <a:r>
              <a:t>5.0 TỰ ĐỘNG HÓA &amp; DỰ TOÁN CHI PHÍ</a:t>
            </a:r>
          </a:p>
          <a:p>
            <a:pPr>
              <a:defRPr sz="2100" b="1">
                <a:solidFill>
                  <a:srgbClr val="F8FAFC"/>
                </a:solidFill>
                <a:latin typeface="Arial"/>
              </a:defRPr>
            </a:pPr>
            <a:r>
              <a:t>GitHub Actions CI/CD Pipeline &amp; Tối Ưu Chi Phí Đám Mây</a:t>
            </a:r>
          </a:p>
        </p:txBody>
      </p:sp>
      <p:sp>
        <p:nvSpPr>
          <p:cNvPr id="3" name="Rounded Rectangle 2"/>
          <p:cNvSpPr/>
          <p:nvPr/>
        </p:nvSpPr>
        <p:spPr>
          <a:xfrm>
            <a:off x="731520" y="1554480"/>
            <a:ext cx="5486400" cy="4754880"/>
          </a:xfrm>
          <a:prstGeom prst="roundRect">
            <a:avLst/>
          </a:prstGeom>
          <a:solidFill>
            <a:srgbClr val="112240"/>
          </a:solidFill>
          <a:ln>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4937760" cy="4297680"/>
          </a:xfrm>
          <a:prstGeom prst="rect">
            <a:avLst/>
          </a:prstGeom>
          <a:noFill/>
        </p:spPr>
        <p:txBody>
          <a:bodyPr wrap="square">
            <a:spAutoFit/>
          </a:bodyPr>
          <a:lstStyle/>
          <a:p>
            <a:pPr>
              <a:spcAft>
                <a:spcPts val="1000"/>
              </a:spcAft>
              <a:defRPr sz="1400">
                <a:solidFill>
                  <a:srgbClr val="F8FAFC"/>
                </a:solidFill>
                <a:latin typeface="Arial"/>
              </a:defRPr>
            </a:pPr>
            <a:r>
              <a:t>•  Pipeline CI/CD: Kiểm tra 400 dòng code, kiểm tra DVC metadata, chạy 100% Pytest suite, đóng gói Docker.</a:t>
            </a:r>
          </a:p>
          <a:p>
            <a:pPr>
              <a:spcAft>
                <a:spcPts val="1000"/>
              </a:spcAft>
              <a:defRPr sz="1400">
                <a:solidFill>
                  <a:srgbClr val="F8FAFC"/>
                </a:solidFill>
                <a:latin typeface="Arial"/>
              </a:defRPr>
            </a:pPr>
            <a:r>
              <a:t>•  Hỗ trợ Self-hosted Runner theo Đề bài 11 và CD deployment tự động kiểm tra health check.</a:t>
            </a:r>
          </a:p>
          <a:p>
            <a:pPr>
              <a:spcAft>
                <a:spcPts val="1000"/>
              </a:spcAft>
              <a:defRPr sz="1400">
                <a:solidFill>
                  <a:srgbClr val="F8FAFC"/>
                </a:solidFill>
                <a:latin typeface="Arial"/>
              </a:defRPr>
            </a:pPr>
            <a:r>
              <a:t>•  Dự toán TCO: Chi phí vận hành tối ưu ~$84.05 / tháng trên AWS/Azure.</a:t>
            </a:r>
          </a:p>
          <a:p>
            <a:pPr>
              <a:spcAft>
                <a:spcPts val="1000"/>
              </a:spcAft>
              <a:defRPr sz="1400">
                <a:solidFill>
                  <a:srgbClr val="F8FAFC"/>
                </a:solidFill>
                <a:latin typeface="Arial"/>
              </a:defRPr>
            </a:pPr>
            <a:r>
              <a:t>•  Chiến lược tiết kiệm: Parquet giảm 73% chi phí lưu trữ; Spot Instances giảm 70% chi phí tính toán.</a:t>
            </a:r>
          </a:p>
        </p:txBody>
      </p:sp>
      <p:pic>
        <p:nvPicPr>
          <p:cNvPr id="5" name="Picture 4" descr="bt11_cicd_pipeline.png"/>
          <p:cNvPicPr>
            <a:picLocks noChangeAspect="1"/>
          </p:cNvPicPr>
          <p:nvPr/>
        </p:nvPicPr>
        <p:blipFill>
          <a:blip r:embed="rId2"/>
          <a:stretch>
            <a:fillRect/>
          </a:stretch>
        </p:blipFill>
        <p:spPr>
          <a:xfrm>
            <a:off x="6492240" y="1554480"/>
            <a:ext cx="4937760" cy="189472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a:spAutoFit/>
          </a:bodyPr>
          <a:lstStyle/>
          <a:p>
            <a:pPr>
              <a:defRPr sz="1000" b="1">
                <a:solidFill>
                  <a:srgbClr val="F59E0B"/>
                </a:solidFill>
                <a:latin typeface="Arial"/>
              </a:defRPr>
            </a:pPr>
            <a:r>
              <a:t>TỔNG KẾT ĐỒ ÁN</a:t>
            </a:r>
          </a:p>
          <a:p>
            <a:pPr>
              <a:defRPr sz="2100" b="1">
                <a:solidFill>
                  <a:srgbClr val="F8FAFC"/>
                </a:solidFill>
                <a:latin typeface="Arial"/>
              </a:defRPr>
            </a:pPr>
            <a:r>
              <a:t>Kết Luận &amp; Kịch Bản Demo Trực Tiếp</a:t>
            </a:r>
          </a:p>
        </p:txBody>
      </p:sp>
      <p:sp>
        <p:nvSpPr>
          <p:cNvPr id="3" name="Rounded Rectangle 2"/>
          <p:cNvSpPr/>
          <p:nvPr/>
        </p:nvSpPr>
        <p:spPr>
          <a:xfrm>
            <a:off x="731520" y="1554480"/>
            <a:ext cx="10698480" cy="4754880"/>
          </a:xfrm>
          <a:prstGeom prst="roundRect">
            <a:avLst/>
          </a:prstGeom>
          <a:solidFill>
            <a:srgbClr val="112240"/>
          </a:solidFill>
          <a:ln>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10149840" cy="4297680"/>
          </a:xfrm>
          <a:prstGeom prst="rect">
            <a:avLst/>
          </a:prstGeom>
          <a:noFill/>
        </p:spPr>
        <p:txBody>
          <a:bodyPr wrap="square">
            <a:spAutoFit/>
          </a:bodyPr>
          <a:lstStyle/>
          <a:p>
            <a:pPr>
              <a:spcAft>
                <a:spcPts val="1000"/>
              </a:spcAft>
              <a:defRPr sz="1500">
                <a:solidFill>
                  <a:srgbClr val="F8FAFC"/>
                </a:solidFill>
                <a:latin typeface="Arial"/>
              </a:defRPr>
            </a:pPr>
            <a:r>
              <a:t>•  Hiện thực hóa trọn vẹn kiến trúc MLOps Level 2 cho bài toán Customer Churn Prediction.</a:t>
            </a:r>
          </a:p>
          <a:p>
            <a:pPr>
              <a:spcAft>
                <a:spcPts val="1000"/>
              </a:spcAft>
              <a:defRPr sz="1500">
                <a:solidFill>
                  <a:srgbClr val="F8FAFC"/>
                </a:solidFill>
                <a:latin typeface="Arial"/>
              </a:defRPr>
            </a:pPr>
            <a:r>
              <a:t>•  Trung thực học thuật: 0 mockup, dữ liệu 442k bản ghi xử lý khử trùng lặp, phân tích rõ thiên lệch Kaggle.</a:t>
            </a:r>
          </a:p>
          <a:p>
            <a:pPr>
              <a:spcAft>
                <a:spcPts val="1000"/>
              </a:spcAft>
              <a:defRPr sz="1500">
                <a:solidFill>
                  <a:srgbClr val="F8FAFC"/>
                </a:solidFill>
                <a:latin typeface="Arial"/>
              </a:defRPr>
            </a:pPr>
            <a:r>
              <a:t>•  Kịch bản Demo: 1) Kiểm tra /health &amp; /metrics; 2) Demo dự đoán Feast theo Customer ID; 3) Demo Web UI Bento Grid &amp; Upload CSV; 4) Demo Drift &amp; Retrain Webhook.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